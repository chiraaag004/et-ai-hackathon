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0F172A"/>
                </a:solidFill>
                <a:latin typeface="Calibri"/>
              </a:rPr>
              <a:t>Crude import share by supplier country   FY2025-26 (DGCI&amp;S-verified)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84-47D8-B93B-72B51530500D}"/>
              </c:ext>
            </c:extLst>
          </c:dPt>
          <c:dPt>
            <c:idx val="1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84-47D8-B93B-72B51530500D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84-47D8-B93B-72B51530500D}"/>
              </c:ext>
            </c:extLst>
          </c:dPt>
          <c:dPt>
            <c:idx val="3"/>
            <c:bubble3D val="0"/>
            <c:spPr>
              <a:solidFill>
                <a:srgbClr val="DB2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84-47D8-B93B-72B51530500D}"/>
              </c:ext>
            </c:extLst>
          </c:dPt>
          <c:dPt>
            <c:idx val="4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84-47D8-B93B-72B51530500D}"/>
              </c:ext>
            </c:extLst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84-47D8-B93B-72B5153050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84-47D8-B93B-72B5153050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84-47D8-B93B-72B51530500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884-47D8-B93B-72B51530500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84-47D8-B93B-72B51530500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884-47D8-B93B-72B51530500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884-47D8-B93B-72B5153050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Russia</c:v>
                </c:pt>
                <c:pt idx="1">
                  <c:v>Iraq</c:v>
                </c:pt>
                <c:pt idx="2">
                  <c:v>Saudi Arabia</c:v>
                </c:pt>
                <c:pt idx="3">
                  <c:v>UAE</c:v>
                </c:pt>
                <c:pt idx="4">
                  <c:v>USA</c:v>
                </c:pt>
                <c:pt idx="5">
                  <c:v>28 other countries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32.700000000000003</c:v>
                </c:pt>
                <c:pt idx="1">
                  <c:v>18.8</c:v>
                </c:pt>
                <c:pt idx="2">
                  <c:v>13.2</c:v>
                </c:pt>
                <c:pt idx="3">
                  <c:v>10.8</c:v>
                </c:pt>
                <c:pt idx="4">
                  <c:v>7.4</c:v>
                </c:pt>
                <c:pt idx="5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884-47D8-B93B-72B5153050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41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 to open: this is a working prototype, not a mockup -- every number on the following slides comes from code that actually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 with real PPAC numbers, then land the punch: the worst-case scenario in our demo is not invented -- it's the actual news as of the app's own 'today'.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top to bottom. Be upfront about the two 'scoped down' rows before a judge finds them -- it reads as maturity, not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architecture diagram deliverable, folded into the deck. Point out that every box is a real file in the repo -- nothing here is aspirational.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traces to a cited PPAC table or the DGCI&amp;S export -- this is the slide to point to if a judge asks 'is this data real or assumed'.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exposure-weighting briefly -- it's what makes the Hormuz KPI on slide 9 land inside the real reported range instead of overstating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take-or-pay point is the one that shows real domain modeling, not just LP boilerplate -- worth slowing down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Screen-record each tab in this order for the demo video -- it matches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Checked via live web search dated 21 July 2026 (postdates any static training cutoff) -- full citations in KNOWN_LIMITATIONS.md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strength, not a confession: we ran an adversarial audit against our own solved model, found real bugs, fixed them, and kept regression tests so they can't come back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any one of these in Q&amp;A: 'yes, documented, here's why it doesn't affect what we're demonstrating' -- not a scramble.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here -- SPR dynamics and grade-compatibility are the cheapest, most defensible next steps; multi-agent reasoning is the most ambitious and should be framed as a direction,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checklist -- it directly answers the hackathon's own 'expected deliverables' list, which is worth saying out loud to the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CCFBF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CCFBF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Energy Supply Chain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for India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digital twin of India's crude-oil import network   modeling chokepoint disruptions and recommending an adaptive procurement response in under a second.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26289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71-node knowledge graph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51860" y="5029200"/>
            <a:ext cx="26289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stochastic LP + CVaR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1860" y="516636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5029200"/>
            <a:ext cx="26289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disruption scenarios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516636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9660" y="5029200"/>
            <a:ext cx="26289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automated tests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09660" y="516636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DeadlineDriven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crude supply runs through a handful of contested chokepoints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refines nearly 5 million barrels a day of crude it does not produce, and roughly half of it physically transits one strait. PS2 asks for an AI system that gives planners early warning of a disruption and models the best way to respond   because when a chokepoint closes, the response window is days, not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11235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1576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4,936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kbpd of crude imported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(FY2025-26, PPAC-verified)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71576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crude processed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imported, not domestic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71576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import capacity 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Hormuz-exposed (exposure-weighted)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2606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271576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~9.5 days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cover from India's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5.33 MMT strategic reserve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0607040" cy="1417320"/>
          </a:xfrm>
          <a:prstGeom prst="roundRect">
            <a:avLst>
              <a:gd name="adj" fmla="val 45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75488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hypothetical stress-test.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Strait of Hormuz has been effectively closed to commercial shipping since 28 Feb 2026 and still is today (verified via live search, not training-data recall   see slide 9). The scenario this build treats as its worst case is the real, ongoing situation.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built, against PS2's five illustrative components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060704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PS2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exists today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Digital Twin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71-node / 65-edge knowledge graph + 5-tab interactive dashboard, fully PPAC/DGCI&amp;S sourced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Scenario Modeller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chokepoint scenarios (Hormuz 50%/100%, Red Sea/Suez 80%) degrade the live graph on 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Procurement Orchestrator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stochastic LP with CVaR risk-aversion, solved in under a second (Pyomo + HiGHS)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Risk Intelligence 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real 2026 headlines drive signal extraction; not yet live multi-source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Reserve Optimisation 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 drawdown modeled per-scenario; single representative day, not a multi-day depletion schedule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on every scope cut is in Known Limitations (slide 11)   disclosed deliberately, not discovered by a judge.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documents to a decision, in five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60152" cy="502920"/>
          </a:xfrm>
          <a:prstGeom prst="roundRect">
            <a:avLst>
              <a:gd name="adj" fmla="val 1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371600"/>
            <a:ext cx="10140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PPAC Ready Reckoner  ·  PPAC Monthly Snapshot  ·  ICB Notification  ·  DGCI&amp;S country-wise trade export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83664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121408"/>
            <a:ext cx="8531352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2121408"/>
            <a:ext cx="8311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build_network.py  →  </a:t>
            </a: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(data/network.json)   71 nodes · 65 edges, typed &amp; unit-tested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880360"/>
            <a:ext cx="3270809" cy="1051560"/>
          </a:xfrm>
          <a:prstGeom prst="roundRect">
            <a:avLst>
              <a:gd name="adj" fmla="val 608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880360"/>
            <a:ext cx="3051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Extractor
</a:t>
            </a: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signal_extractor.py
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headline → severity + corridor signal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85209" y="28803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59529" y="2880360"/>
            <a:ext cx="3270809" cy="1051560"/>
          </a:xfrm>
          <a:prstGeom prst="roundRect">
            <a:avLst>
              <a:gd name="adj" fmla="val 608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257" y="2880360"/>
            <a:ext cx="3051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
</a:t>
            </a: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scenario_engine.py
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edge capacity by chokepoint severity × exposure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30338" y="28803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4658" y="2880360"/>
            <a:ext cx="3270809" cy="1051560"/>
          </a:xfrm>
          <a:prstGeom prst="roundRect">
            <a:avLst>
              <a:gd name="adj" fmla="val 608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4386" y="2880360"/>
            <a:ext cx="3051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Orchestrator
</a:t>
            </a: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optimizer.py
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stochastic LP + CVaR (Pyomo / HiGHS), &lt;1s solve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005072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0" y="4251960"/>
            <a:ext cx="7616952" cy="457200"/>
          </a:xfrm>
          <a:prstGeom prst="roundRect">
            <a:avLst>
              <a:gd name="adj" fmla="val 14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4251960"/>
            <a:ext cx="7397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briefing_generator.py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translates optimizer output into plain-language cards, no jargon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908792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983480"/>
            <a:ext cx="10689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(app.py)  </a:t>
            </a: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5-tab dashboard: Current System · Scenarios · News · Details &amp; Charts · Data &amp; Methods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18304" y="5760720"/>
            <a:ext cx="274320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5760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 / Judge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knowledge graph built on cited government data, not estimates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7744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761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(~97% of national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26517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2761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nodes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 countries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domestic regions)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337560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5020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766E"/>
                </a:solidFill>
              </a:rPr>
              <a:t>11 ports · 4 corridors · 3 SPR sites
</a:t>
            </a:r>
            <a:r>
              <a:rPr lang="en-US" sz="1000" dirty="0">
                <a:solidFill>
                  <a:srgbClr val="64748B"/>
                </a:solidFill>
              </a:rPr>
              <a:t>typed nodes, every one linked to a real coordinate and, where applicable, a PPAC table reference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3337560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1389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Sourced from: </a:t>
            </a:r>
            <a:r>
              <a:rPr lang="en-US" sz="1050" dirty="0">
                <a:solidFill>
                  <a:srgbClr val="64748B"/>
                </a:solidFill>
              </a:rPr>
              <a:t>PPAC Ready Reckoner FY25-26, PPAC Monthly Snapshot Jun'26, ICB Notification, DGCI&amp;S country-wise crude import register (34 countries, calendar 2025).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297680" y="1463040"/>
          <a:ext cx="667512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disruption scenarios, weighted by planning probability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degrades a chokepoint's shipping-route capacity by severity × that edge's chokepoint exposure   a fraction, not a binary on/off, since not every barrel on a “Hormuz supplier” route physically transits the strait.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14600" cy="3200400"/>
          </a:xfrm>
          <a:prstGeom prst="roundRect">
            <a:avLst>
              <a:gd name="adj" fmla="val 2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514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5074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probability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2194560"/>
            <a:ext cx="2514600" cy="3200400"/>
          </a:xfrm>
          <a:prstGeom prst="roundRect">
            <a:avLst>
              <a:gd name="adj" fmla="val 2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2194560"/>
            <a:ext cx="25146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Hormuz   50%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capacity loss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401568" y="5074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probability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2194560"/>
            <a:ext cx="2514600" cy="3200400"/>
          </a:xfrm>
          <a:prstGeom prst="roundRect">
            <a:avLst>
              <a:gd name="adj" fmla="val 2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0176" y="2194560"/>
            <a:ext cx="251460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117336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Sea / Suez   80%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17336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Near-total suspension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17336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117336" y="5074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probability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95944" y="2194560"/>
            <a:ext cx="2514600" cy="3200400"/>
          </a:xfrm>
          <a:prstGeom prst="roundRect">
            <a:avLst>
              <a:gd name="adj" fmla="val 2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5944" y="2194560"/>
            <a:ext cx="25146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883310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Hormuz   100%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33104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closure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33104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833104" y="5074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probability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illustrative planning assumptions, documented as such   not a geopolitical forecast.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PROCUREMENT ORCHESTRATOR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risk-aware allocation problem, not a lookup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stochastic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94960" y="1417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locked before the scenario is known (first-stage); flow, spot purchases, and SPR draw adapt per scenario (second-stage).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 risk-aversion (λ)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94960" y="2468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slider trades expected cost against worst-case cost   λ=0 is risk-neutral, higher λ protects the worst 5-10% of outcomes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Take-or-pay economics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contracted volume is paid for even if a scenario can't deliver it   mirrors real term-crude contracts, and is what makes over-committing to a fragile route genuinely costly.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5720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Solved in production math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94960" y="4572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Pyomo + HiGHS, open-source, no commercial solver   the full network solves in well under a second, live, behind an interactive slider.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0607040" cy="594360"/>
          </a:xfrm>
          <a:prstGeom prst="roundRect">
            <a:avLst>
              <a:gd name="adj" fmla="val 107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150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its own test suite: an early build made every variable scenario-indexed with no shared first-stage decision, so λ produced a byte-identical solution. Fixed and kept as a regression test   see slide 10.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TWIN, IN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five tabs, zero jargon until you ask for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63624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14173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explanation, baseline stat cards, and the live import map.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59736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3134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31920" y="231343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disruption via clickable pill-cards; get the plain-language story and an updated map   no charts, no jargon.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55848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2095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31920" y="320954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story, triggered by a real dated headline instead of a manual pick.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10565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&amp; Charts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410565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home: KPIs, the technical briefing, cost/shift/refinery charts, and a 4-slider robustness stress-test.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01768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148072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0017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931920" y="5001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assumptions, node/edge tables, PPAC-verified figures, and the real-world validation comparison (slide 9).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against the real, ongoing Hormuz crisis   not a synthetic test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607040" cy="3291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reported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Hormuz-routed import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 (exposure-weighted)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40–52% (multiple sources)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lost under full closure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 (2,380 of 4,936 kbpd)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“over 40%” of crude flows (OilPrice.com)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reserve 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MMT, ~9.5 days at full fill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MMT, “9-10 days of cover” (independent report)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Diversification direction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Risk-averse plan shifts contracts away from Hormuz-exposed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secured ~70% of imports outside Hormuz by 11 Mar 2026 (Petroleum Ministry)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060704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1206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What this doesn't capture: </a:t>
            </a:r>
            <a:r>
              <a:rPr lang="en-US" sz="1200" dirty="0">
                <a:solidFill>
                  <a:srgbClr val="0F172A"/>
                </a:solidFill>
              </a:rPr>
              <a:t>the IEA's coordinated 400M-barrel strategic release, GDP/rupee/capital-flow effects, price-controlled retail fuel losses to Indian oil marketing companies, and the human cost of the underlying conflict. This model gets the </a:t>
            </a:r>
            <a:r>
              <a:rPr lang="en-US" sz="1200" i="1" dirty="0">
                <a:solidFill>
                  <a:srgbClr val="0F766E"/>
                </a:solidFill>
              </a:rPr>
              <a:t>supply network arithmetic</a:t>
            </a:r>
            <a:r>
              <a:rPr lang="en-US" sz="1200" dirty="0">
                <a:solidFill>
                  <a:srgbClr val="0F172A"/>
                </a:solidFill>
              </a:rPr>
              <a:t> right and says plainly what it doesn't model.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 the math, not just the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test files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572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54680" y="2377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modeling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by audit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fixed &amp; re-tested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572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377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integer/binary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 a clean LP,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solve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15727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AppTest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UI tests, not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unit tests on the math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0607040" cy="3017520"/>
          </a:xfrm>
          <a:prstGeom prst="roundRect">
            <a:avLst>
              <a:gd name="adj" fmla="val 21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461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independent audit found and we fixed: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301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supply stranded at ports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63016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kbpd of real indigenous crude could reach a port but had no onward edge   invisible to the optimizer. Fixed: ports now route indigenous flow onward.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4805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407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 drained on an ordinary day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440740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was priced cheaper than routine spot crude with no depletion cost, so the model used it as a free daily supplier. Fixed: baseline no longer draws the reserve.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1846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production caps missing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51846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could be drawn 2-3x their real output because only pipeline capacity, not field production, was enforced. Fixed: production caps are now a real constraint.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claiming   disclosed, not discovered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Single-period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08483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representative day per scenario   no multi-day SPR depletion or replenishment schedule.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62763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81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rerouting-with-delay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9392" y="208483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alt_corridor / alt_transit_days are recorded on every edge but not yet consumed by the optimizer.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146304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162763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84555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1581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disruption-time freight spike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45552" y="208483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Freight/insurance cost is static; real chokepoint crises raise it 15-40% on affected routes.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27355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objective cut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73075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redistributes shortfall pain across refineries; it doesn't guarantee an equitable minimum service level.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1089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327355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227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Grade-compatibility constraint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9392" y="373075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spec calls for it; grade/grade_preference data exists but isn't yet enforced in the solver.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31089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45552" y="327355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7845552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21040" y="3227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 figures via PIB/Wikipedia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45552" y="3730752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independently verifiable against PPAC's Ready Reckoner   SPR sits under a separate ministry program.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above is a deliberate scope cut, documented in KNOWN_LIMITATIONS.md before any judge could ask about it   none of them changes what the demo shows.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next, in priority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572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Multi-day SPR dynamics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single “day 1” snapshot into a real depletion-and-replenishment schedule across the response window.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4630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3912" y="162763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15391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2552" y="15727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Rerouting-with-delay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53912" y="2121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the alt_corridor / alt_transit_days data that already exists   let the optimizer choose a slower, safer path instead of only reallocating volume.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13639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0815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Grade-compatibility constraint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6301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one gap against our own model spec: stop the solver from assigning crude a refinery can't actually process.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97180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313639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02552" y="30815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signal ingestion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912" y="36301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curated headlines with real RSS/news-API monitoring, and layer in AIS vessel tracking where available.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64515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590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objective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138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cited but unbuilt equitable-service-level term so shortfall isn't just minimized, but distributed fairly across refiners.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448056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3912" y="464515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153912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02552" y="4590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multi-agent reasoning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5138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LLM reason over the knowledge graph and propose actions, rather than templating the optimizer's output   today's pipeline is agent-flavored, not yet agentic.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PS2 asked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3736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live   every number traceable to code.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3736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this deck.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73736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Deck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41080" y="155448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173736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minute walkthrough, script prepared.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0607040" cy="2286000"/>
          </a:xfrm>
          <a:prstGeom prst="roundRect">
            <a:avLst>
              <a:gd name="adj" fmla="val 28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  ·  Adaptive Procurement Orchestrator  ·  Disruption Scenario Modeller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71600" y="4572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cited PPAC and DGCI&amp;S government data, stress-tested against the real, ongoing Hormuz crisis, and audited for the kind of bugs a demo would never surface on its own.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DeadlineDriven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ET AI Hackathon 2026  ·  PS2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2232</Words>
  <Application>Microsoft Office PowerPoint</Application>
  <PresentationFormat>Widescreen</PresentationFormat>
  <Paragraphs>282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Tanishk Goyal</cp:lastModifiedBy>
  <cp:revision>2</cp:revision>
  <dcterms:created xsi:type="dcterms:W3CDTF">2026-07-22T16:53:09Z</dcterms:created>
  <dcterms:modified xsi:type="dcterms:W3CDTF">2026-07-22T17:08:16Z</dcterms:modified>
</cp:coreProperties>
</file>